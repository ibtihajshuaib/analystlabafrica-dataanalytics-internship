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17"/>
  </p:notesMasterIdLst>
  <p:sldIdLst>
    <p:sldId id="256" r:id="rId2"/>
    <p:sldId id="257" r:id="rId3"/>
    <p:sldId id="258" r:id="rId4"/>
    <p:sldId id="274" r:id="rId5"/>
    <p:sldId id="261" r:id="rId6"/>
    <p:sldId id="263" r:id="rId7"/>
    <p:sldId id="262" r:id="rId8"/>
    <p:sldId id="264" r:id="rId9"/>
    <p:sldId id="273" r:id="rId10"/>
    <p:sldId id="266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../embeddings/oleObject1.bin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Bishir\Desktop\part%202%20excel.xlsx" TargetMode="External"/><Relationship Id="rId1" Type="http://schemas.openxmlformats.org/officeDocument/2006/relationships/themeOverride" Target="../theme/themeOverride2.xm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Bishir\Desktop\part%202%20excel.xlsx" TargetMode="External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pivotSource>
    <c:name>[part 2 excel.xlsx]Overall churn!PivotTable1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Customer</a:t>
            </a:r>
            <a:r>
              <a:rPr lang="en-US" baseline="0"/>
              <a:t> Churn Distribution</a:t>
            </a:r>
            <a:endParaRPr lang="en-US"/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</c:pivotFmts>
    <c:plotArea>
      <c:layout/>
      <c:pieChart>
        <c:varyColors val="1"/>
        <c:ser>
          <c:idx val="0"/>
          <c:order val="0"/>
          <c:tx>
            <c:strRef>
              <c:f>'Overall churn'!$B$3</c:f>
              <c:strCache>
                <c:ptCount val="1"/>
                <c:pt idx="0">
                  <c:v>Total</c:v>
                </c:pt>
              </c:strCache>
            </c:strRef>
          </c:tx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'Overall churn'!$A$4:$A$6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'Overall churn'!$B$4:$B$6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Churn Rate by Senior Citizen Status 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'Senior citizen'!$G$4</c:f>
              <c:strCache>
                <c:ptCount val="1"/>
                <c:pt idx="0">
                  <c:v>Churn Rate</c:v>
                </c:pt>
              </c:strCache>
            </c:strRef>
          </c:tx>
          <c:invertIfNegative val="0"/>
          <c:cat>
            <c:strRef>
              <c:f>'Senior citizen'!$F$5:$F$6</c:f>
              <c:strCache>
                <c:ptCount val="2"/>
                <c:pt idx="0">
                  <c:v>Non-Senior (0)</c:v>
                </c:pt>
                <c:pt idx="1">
                  <c:v>Senior(1)</c:v>
                </c:pt>
              </c:strCache>
            </c:strRef>
          </c:cat>
          <c:val>
            <c:numRef>
              <c:f>'Senior citizen'!$G$5:$G$6</c:f>
              <c:numCache>
                <c:formatCode>0.00%</c:formatCode>
                <c:ptCount val="2"/>
                <c:pt idx="0">
                  <c:v>0.2361</c:v>
                </c:pt>
                <c:pt idx="1">
                  <c:v>0.4168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808128"/>
        <c:axId val="223830400"/>
      </c:barChart>
      <c:catAx>
        <c:axId val="223808128"/>
        <c:scaling>
          <c:orientation val="minMax"/>
        </c:scaling>
        <c:delete val="0"/>
        <c:axPos val="l"/>
        <c:majorTickMark val="out"/>
        <c:minorTickMark val="none"/>
        <c:tickLblPos val="nextTo"/>
        <c:crossAx val="223830400"/>
        <c:crosses val="autoZero"/>
        <c:auto val="1"/>
        <c:lblAlgn val="ctr"/>
        <c:lblOffset val="100"/>
        <c:noMultiLvlLbl val="0"/>
      </c:catAx>
      <c:valAx>
        <c:axId val="223830400"/>
        <c:scaling>
          <c:orientation val="minMax"/>
        </c:scaling>
        <c:delete val="0"/>
        <c:axPos val="b"/>
        <c:majorGridlines/>
        <c:numFmt formatCode="0.00%" sourceLinked="1"/>
        <c:majorTickMark val="out"/>
        <c:minorTickMark val="none"/>
        <c:tickLblPos val="nextTo"/>
        <c:crossAx val="22380812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Sheet3!$G$3</c:f>
              <c:strCache>
                <c:ptCount val="1"/>
                <c:pt idx="0">
                  <c:v>Churn Rate</c:v>
                </c:pt>
              </c:strCache>
            </c:strRef>
          </c:tx>
          <c:invertIfNegative val="0"/>
          <c:cat>
            <c:strRef>
              <c:f>Sheet3!$F$4:$F$6</c:f>
              <c:strCache>
                <c:ptCount val="3"/>
                <c:pt idx="0">
                  <c:v>Month-to-Month</c:v>
                </c:pt>
                <c:pt idx="1">
                  <c:v>One year</c:v>
                </c:pt>
                <c:pt idx="2">
                  <c:v>Two year</c:v>
                </c:pt>
              </c:strCache>
            </c:strRef>
          </c:cat>
          <c:val>
            <c:numRef>
              <c:f>Sheet3!$G$4:$G$6</c:f>
              <c:numCache>
                <c:formatCode>0.00%</c:formatCode>
                <c:ptCount val="3"/>
                <c:pt idx="0">
                  <c:v>0.42709999999999998</c:v>
                </c:pt>
                <c:pt idx="1">
                  <c:v>0.11269999999999999</c:v>
                </c:pt>
                <c:pt idx="2">
                  <c:v>2.8299999999999999E-2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8039296"/>
        <c:axId val="228041088"/>
      </c:barChart>
      <c:catAx>
        <c:axId val="228039296"/>
        <c:scaling>
          <c:orientation val="minMax"/>
        </c:scaling>
        <c:delete val="0"/>
        <c:axPos val="l"/>
        <c:majorTickMark val="out"/>
        <c:minorTickMark val="none"/>
        <c:tickLblPos val="nextTo"/>
        <c:crossAx val="228041088"/>
        <c:crosses val="autoZero"/>
        <c:auto val="1"/>
        <c:lblAlgn val="ctr"/>
        <c:lblOffset val="100"/>
        <c:noMultiLvlLbl val="0"/>
      </c:catAx>
      <c:valAx>
        <c:axId val="228041088"/>
        <c:scaling>
          <c:orientation val="minMax"/>
        </c:scaling>
        <c:delete val="0"/>
        <c:axPos val="b"/>
        <c:majorGridlines/>
        <c:numFmt formatCode="0.00%" sourceLinked="1"/>
        <c:majorTickMark val="out"/>
        <c:minorTickMark val="none"/>
        <c:tickLblPos val="nextTo"/>
        <c:crossAx val="22803929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Distribution of Customer Tenure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Frequency</c:v>
          </c:tx>
          <c:invertIfNegative val="0"/>
          <c:cat>
            <c:numRef>
              <c:f>'Raw data &amp; Analysis'!$X$2:$X$9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50</c:v>
                </c:pt>
                <c:pt idx="4">
                  <c:v>60</c:v>
                </c:pt>
                <c:pt idx="5">
                  <c:v>70</c:v>
                </c:pt>
                <c:pt idx="6">
                  <c:v>80</c:v>
                </c:pt>
              </c:numCache>
            </c:numRef>
          </c:cat>
          <c:val>
            <c:numRef>
              <c:f>'Raw data &amp; Analysis'!$Y$2:$Y$9</c:f>
              <c:numCache>
                <c:formatCode>General</c:formatCode>
                <c:ptCount val="8"/>
                <c:pt idx="0">
                  <c:v>2878</c:v>
                </c:pt>
                <c:pt idx="1">
                  <c:v>763</c:v>
                </c:pt>
                <c:pt idx="2">
                  <c:v>645</c:v>
                </c:pt>
                <c:pt idx="3">
                  <c:v>652</c:v>
                </c:pt>
                <c:pt idx="4">
                  <c:v>698</c:v>
                </c:pt>
                <c:pt idx="5">
                  <c:v>875</c:v>
                </c:pt>
                <c:pt idx="6">
                  <c:v>532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8054912"/>
        <c:axId val="228134912"/>
      </c:barChart>
      <c:catAx>
        <c:axId val="2280549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Tenure</a:t>
                </a:r>
                <a:r>
                  <a:rPr lang="en-US" baseline="0"/>
                  <a:t> (Months)</a:t>
                </a:r>
              </a:p>
            </c:rich>
          </c:tx>
          <c:layout/>
          <c:overlay val="0"/>
          <c:spPr>
            <a:noFill/>
          </c:spPr>
        </c:title>
        <c:numFmt formatCode="General" sourceLinked="1"/>
        <c:majorTickMark val="out"/>
        <c:minorTickMark val="none"/>
        <c:tickLblPos val="nextTo"/>
        <c:crossAx val="228134912"/>
        <c:crosses val="autoZero"/>
        <c:auto val="1"/>
        <c:lblAlgn val="ctr"/>
        <c:lblOffset val="100"/>
        <c:noMultiLvlLbl val="0"/>
      </c:catAx>
      <c:valAx>
        <c:axId val="2281349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</a:t>
                </a:r>
                <a:r>
                  <a:rPr lang="en-US" baseline="0"/>
                  <a:t> of Customers</a:t>
                </a:r>
                <a:endParaRPr lang="en-US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2805491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Churn Rate by Internet Service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'Internet service'!$G$4</c:f>
              <c:strCache>
                <c:ptCount val="1"/>
                <c:pt idx="0">
                  <c:v>Churn Rate</c:v>
                </c:pt>
              </c:strCache>
            </c:strRef>
          </c:tx>
          <c:invertIfNegative val="0"/>
          <c:cat>
            <c:strRef>
              <c:f>'Internet service'!$F$5:$F$7</c:f>
              <c:strCache>
                <c:ptCount val="3"/>
                <c:pt idx="0">
                  <c:v>DSL</c:v>
                </c:pt>
                <c:pt idx="1">
                  <c:v>Fiber optic</c:v>
                </c:pt>
                <c:pt idx="2">
                  <c:v>No</c:v>
                </c:pt>
              </c:strCache>
            </c:strRef>
          </c:cat>
          <c:val>
            <c:numRef>
              <c:f>'Internet service'!$G$5:$G$7</c:f>
              <c:numCache>
                <c:formatCode>0.00%</c:formatCode>
                <c:ptCount val="3"/>
                <c:pt idx="0">
                  <c:v>0.18959999999999999</c:v>
                </c:pt>
                <c:pt idx="1">
                  <c:v>0.41889999999999999</c:v>
                </c:pt>
                <c:pt idx="2">
                  <c:v>7.3999999999999996E-2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8569856"/>
        <c:axId val="188571008"/>
      </c:barChart>
      <c:catAx>
        <c:axId val="188569856"/>
        <c:scaling>
          <c:orientation val="minMax"/>
        </c:scaling>
        <c:delete val="0"/>
        <c:axPos val="l"/>
        <c:majorTickMark val="out"/>
        <c:minorTickMark val="none"/>
        <c:tickLblPos val="nextTo"/>
        <c:crossAx val="188571008"/>
        <c:crosses val="autoZero"/>
        <c:auto val="1"/>
        <c:lblAlgn val="ctr"/>
        <c:lblOffset val="100"/>
        <c:noMultiLvlLbl val="0"/>
      </c:catAx>
      <c:valAx>
        <c:axId val="188571008"/>
        <c:scaling>
          <c:orientation val="minMax"/>
        </c:scaling>
        <c:delete val="0"/>
        <c:axPos val="b"/>
        <c:majorGridlines/>
        <c:numFmt formatCode="0.00%" sourceLinked="1"/>
        <c:majorTickMark val="out"/>
        <c:minorTickMark val="none"/>
        <c:tickLblPos val="nextTo"/>
        <c:crossAx val="18856985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en-US"/>
              <a:t>Churn Rate by Payment</a:t>
            </a:r>
            <a:r>
              <a:rPr lang="en-US" baseline="0"/>
              <a:t> Method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'Payment method'!$G$5</c:f>
              <c:strCache>
                <c:ptCount val="1"/>
                <c:pt idx="0">
                  <c:v>Churn Rate</c:v>
                </c:pt>
              </c:strCache>
            </c:strRef>
          </c:tx>
          <c:invertIfNegative val="0"/>
          <c:cat>
            <c:strRef>
              <c:f>'Payment method'!$F$6:$F$9</c:f>
              <c:strCache>
                <c:ptCount val="4"/>
                <c:pt idx="0">
                  <c:v>Bank transfer</c:v>
                </c:pt>
                <c:pt idx="1">
                  <c:v>Credit card</c:v>
                </c:pt>
                <c:pt idx="2">
                  <c:v>Electonic check</c:v>
                </c:pt>
                <c:pt idx="3">
                  <c:v>Mailed check</c:v>
                </c:pt>
              </c:strCache>
            </c:strRef>
          </c:cat>
          <c:val>
            <c:numRef>
              <c:f>'Payment method'!$G$6:$G$9</c:f>
              <c:numCache>
                <c:formatCode>0.00%</c:formatCode>
                <c:ptCount val="4"/>
                <c:pt idx="0">
                  <c:v>0.1671</c:v>
                </c:pt>
                <c:pt idx="1">
                  <c:v>0.15240000000000001</c:v>
                </c:pt>
                <c:pt idx="2">
                  <c:v>0.45290000000000002</c:v>
                </c:pt>
                <c:pt idx="3">
                  <c:v>0.19109999999999999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9697408"/>
        <c:axId val="189719680"/>
      </c:barChart>
      <c:catAx>
        <c:axId val="189697408"/>
        <c:scaling>
          <c:orientation val="minMax"/>
        </c:scaling>
        <c:delete val="0"/>
        <c:axPos val="l"/>
        <c:majorTickMark val="out"/>
        <c:minorTickMark val="none"/>
        <c:tickLblPos val="nextTo"/>
        <c:crossAx val="189719680"/>
        <c:crosses val="autoZero"/>
        <c:auto val="1"/>
        <c:lblAlgn val="ctr"/>
        <c:lblOffset val="100"/>
        <c:noMultiLvlLbl val="0"/>
      </c:catAx>
      <c:valAx>
        <c:axId val="189719680"/>
        <c:scaling>
          <c:orientation val="minMax"/>
        </c:scaling>
        <c:delete val="0"/>
        <c:axPos val="b"/>
        <c:majorGridlines/>
        <c:numFmt formatCode="0.00%" sourceLinked="1"/>
        <c:majorTickMark val="out"/>
        <c:minorTickMark val="none"/>
        <c:tickLblPos val="nextTo"/>
        <c:crossAx val="189697408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CB8F5-3CC9-4D44-AC65-56F6C69296AA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9DE2C-C13C-4258-9732-7F6B843E7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746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05A16-0C65-47F2-B15B-EE98960C29E4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5A5A3-2488-48A9-AC0A-33D5374D0949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8880A-3CAB-464B-AE09-1E43A1426A5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2B05E-CED9-413F-BCF6-8536F04D4299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F7AB-F1EE-490B-971D-D7A1A4F9BF14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17532-01CE-4375-8A16-FA66A51B5376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3DAE3-6816-41B9-AF1E-D72F6A409D04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9ECE7-901B-4698-AD5B-95B09E852CA5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FA681-9B8F-424E-A411-68CD28C815E5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197AA-56FA-4566-AF01-3A7EC243995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08218-DE7B-4B69-A4F2-5848FC540DC1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8ED7ABC3-85B9-4372-B950-2A251DD343E6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1FE0C125-4D61-4A0B-9A4D-7A2AB919936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620688"/>
            <a:ext cx="7772400" cy="25202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CUSTOMER CHURN ANALYSIS</a:t>
            </a:r>
            <a:b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ABC COMMUNICATIONS LTD.</a:t>
            </a:r>
            <a:br>
              <a:rPr lang="en-US" sz="3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1640" y="3329608"/>
            <a:ext cx="6400800" cy="3528392"/>
          </a:xfrm>
        </p:spPr>
        <p:txBody>
          <a:bodyPr>
            <a:normAutofit/>
          </a:bodyPr>
          <a:lstStyle/>
          <a:p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Business Analytics Project</a:t>
            </a:r>
          </a:p>
          <a:p>
            <a:r>
              <a:rPr lang="en-GB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By </a:t>
            </a:r>
          </a:p>
          <a:p>
            <a:r>
              <a:rPr lang="en-GB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Ibtihaj</a:t>
            </a:r>
            <a:r>
              <a:rPr lang="en-GB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Shuaib</a:t>
            </a:r>
            <a:endParaRPr lang="en-GB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sz="2600" dirty="0" smtClean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 Analytics Intern – </a:t>
            </a:r>
            <a:r>
              <a:rPr lang="en-US" sz="26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AnalystLab</a:t>
            </a:r>
            <a:r>
              <a:rPr lang="en-US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 Africa</a:t>
            </a:r>
          </a:p>
          <a:p>
            <a:r>
              <a:rPr lang="en-GB" sz="2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August, 2026</a:t>
            </a:r>
          </a:p>
        </p:txBody>
      </p:sp>
    </p:spTree>
    <p:extLst>
      <p:ext uri="{BB962C8B-B14F-4D97-AF65-F5344CB8AC3E}">
        <p14:creationId xmlns:p14="http://schemas.microsoft.com/office/powerpoint/2010/main" val="54936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ABC Communications Ltd. is experiencing customer churn and needs to identify the factors contributing to it so effective customer retention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strategies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can be developed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spcAft>
                <a:spcPts val="800"/>
              </a:spcAft>
              <a:defRPr sz="2000"/>
            </a:pP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BUSINESS PROBLEM</a:t>
            </a: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00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Understand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customer base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Identify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customers most likely to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churn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Determine the impact of contract type on customer retention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Examine customer tenure and total charges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Analyse internet service, payment methods and churn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Recommend customer retention strategies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BUSINESS OBJECTIVES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61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919079" y="6492875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1846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DATASET OVERVIEW</a:t>
            </a: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08545"/>
            <a:ext cx="7112817" cy="4396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1043608" y="5661248"/>
            <a:ext cx="69127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cs typeface="Times New Roman" pitchFamily="18" charset="0"/>
              </a:rPr>
              <a:t>Each row represent a customer and each column represents a customer attribute</a:t>
            </a:r>
          </a:p>
        </p:txBody>
      </p:sp>
    </p:spTree>
    <p:extLst>
      <p:ext uri="{BB962C8B-B14F-4D97-AF65-F5344CB8AC3E}">
        <p14:creationId xmlns:p14="http://schemas.microsoft.com/office/powerpoint/2010/main" val="16198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2736" y="5733256"/>
            <a:ext cx="8111752" cy="968971"/>
          </a:xfrm>
        </p:spPr>
        <p:txBody>
          <a:bodyPr>
            <a:normAutofit/>
          </a:bodyPr>
          <a:lstStyle/>
          <a:p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More than one-quarter of the customer base churned, making customer retention an important business priority.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363272" cy="874018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OVERALL CUSTOMER CHURN</a:t>
            </a:r>
            <a:endParaRPr lang="en-US" sz="3600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667066700"/>
              </p:ext>
            </p:extLst>
          </p:nvPr>
        </p:nvGraphicFramePr>
        <p:xfrm>
          <a:off x="1403648" y="1700808"/>
          <a:ext cx="6120680" cy="3672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995936" y="6475114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86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9552" y="6065912"/>
            <a:ext cx="8208912" cy="792088"/>
          </a:xfrm>
        </p:spPr>
        <p:txBody>
          <a:bodyPr>
            <a:norm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Senior citizen customers had a substantially higher observed churn rate.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91264" cy="958428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CHURN BY CUSTOMER SEGMENT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1771983"/>
              </p:ext>
            </p:extLst>
          </p:nvPr>
        </p:nvGraphicFramePr>
        <p:xfrm>
          <a:off x="827584" y="1628800"/>
          <a:ext cx="7561212" cy="4103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991088" y="6520259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20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544" y="5949280"/>
            <a:ext cx="8568952" cy="725140"/>
          </a:xfrm>
        </p:spPr>
        <p:txBody>
          <a:bodyPr>
            <a:normAutofit lnSpcReduction="10000"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Month-to-month customers had substantially higher observed churn than customers on longer-term contracts.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363272" cy="864096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CHURN BY CONTRACT TYPE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Image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834223"/>
              </p:ext>
            </p:extLst>
          </p:nvPr>
        </p:nvGraphicFramePr>
        <p:xfrm>
          <a:off x="899592" y="1268760"/>
          <a:ext cx="7560840" cy="4536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91088" y="6448251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6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805264"/>
            <a:ext cx="8219256" cy="648072"/>
          </a:xfrm>
        </p:spPr>
        <p:txBody>
          <a:bodyPr>
            <a:normAutofit lnSpcReduction="10000"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Most customers have a shorter tenure, with frequency decreasing as tenure increases.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91264" cy="958428"/>
          </a:xfrm>
        </p:spPr>
        <p:txBody>
          <a:bodyPr>
            <a:noAutofit/>
          </a:bodyPr>
          <a:lstStyle/>
          <a:p>
            <a:pPr algn="ctr"/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CUSTOMER TENURE DISTRIBUTION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39750" y="1484313"/>
          <a:ext cx="8147050" cy="4248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991088" y="6520259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911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16832"/>
            <a:ext cx="6336704" cy="28803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TENURE CORRELATION ANALYSIS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3568" y="5517232"/>
            <a:ext cx="770485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smtClean="0">
                <a:latin typeface="Times New Roman" pitchFamily="18" charset="0"/>
                <a:cs typeface="Times New Roman" pitchFamily="18" charset="0"/>
              </a:rPr>
              <a:t>Tenure has a strong positive correlation with total charges, while its relationship with monthly charges is  weak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5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600" b="1" dirty="0" smtClean="0">
                <a:latin typeface="Times New Roman" pitchFamily="18" charset="0"/>
                <a:cs typeface="Times New Roman" pitchFamily="18" charset="0"/>
              </a:rPr>
              <a:t>CHURN BY INTERNET SERVICE &amp; PAYMENT METHOD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41463932"/>
              </p:ext>
            </p:extLst>
          </p:nvPr>
        </p:nvGraphicFramePr>
        <p:xfrm>
          <a:off x="236116" y="1600200"/>
          <a:ext cx="4259684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ontent Placeholder 9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804318255"/>
              </p:ext>
            </p:extLst>
          </p:nvPr>
        </p:nvGraphicFramePr>
        <p:xfrm>
          <a:off x="4648200" y="1498527"/>
          <a:ext cx="4228876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236116" y="6105489"/>
            <a:ext cx="86409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dirty="0" err="1">
                <a:latin typeface="Times New Roman" pitchFamily="18" charset="0"/>
                <a:cs typeface="Times New Roman" pitchFamily="18" charset="0"/>
              </a:rPr>
              <a:t>Fiber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-optic customers and electronic-check users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recorded particularly high churn rate and should be investigated further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3991088" y="6592267"/>
            <a:ext cx="1161826" cy="365125"/>
          </a:xfrm>
        </p:spPr>
        <p:txBody>
          <a:bodyPr/>
          <a:lstStyle/>
          <a:p>
            <a:fld id="{1FE0C125-4D61-4A0B-9A4D-7A2AB919936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88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29600" cy="5141168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Over one-quarter (26.54%) of customers have churned.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Month-to-month customers have the highest churn at 42.71%.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Senior customers have a higher observed churn rate at 41.68%.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err="1" smtClean="0">
                <a:latin typeface="Times New Roman" pitchFamily="18" charset="0"/>
                <a:cs typeface="Times New Roman" pitchFamily="18" charset="0"/>
              </a:rPr>
              <a:t>Fiber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-optic and electronic-check customers show particularly high churn.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Tenure has a  strong positive associated with Total Charges (r = 0.826).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KEY BUSINESS INSIGHTS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4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517232"/>
          </a:xfrm>
        </p:spPr>
        <p:txBody>
          <a:bodyPr>
            <a:noAutofit/>
          </a:bodyPr>
          <a:lstStyle/>
          <a:p>
            <a:pPr marL="0" indent="0">
              <a:spcAft>
                <a:spcPts val="800"/>
              </a:spcAft>
              <a:buNone/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Risks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Continued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customer and revenue loss</a:t>
            </a:r>
          </a:p>
          <a:p>
            <a:pPr>
              <a:spcAft>
                <a:spcPts val="800"/>
              </a:spcAft>
              <a:defRPr sz="2000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Customer Base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Instability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Potential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loss of valuable long-term customers</a:t>
            </a:r>
          </a:p>
          <a:p>
            <a:pPr>
              <a:spcAft>
                <a:spcPts val="800"/>
              </a:spcAft>
              <a:defRPr sz="2000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Aft>
                <a:spcPts val="800"/>
              </a:spcAft>
              <a:buNone/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Opportunities</a:t>
            </a:r>
          </a:p>
          <a:p>
            <a:pPr>
              <a:spcAft>
                <a:spcPts val="800"/>
              </a:spcAft>
              <a:defRPr sz="2000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Convert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month-to-month customers to longer-term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contracts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Improve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fiber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-optic customer experience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Develop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targeted retention programmes for high risk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segment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6632"/>
            <a:ext cx="8686800" cy="100811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BUSINESS RISKS &amp; OPPORTUNITIES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4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Encourage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longer-term contracts through incentives and loyalty benefits.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Target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high-risk customer segments with personalized retention strategies.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Investigate </a:t>
            </a:r>
            <a:r>
              <a:rPr lang="en-GB" sz="2800" dirty="0" err="1">
                <a:latin typeface="Times New Roman" pitchFamily="18" charset="0"/>
                <a:cs typeface="Times New Roman" pitchFamily="18" charset="0"/>
              </a:rPr>
              <a:t>fiber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-optic churn and address potential service or pricing issues.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Review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electronic-check payment experience.</a:t>
            </a: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Monitor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churn regularly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customer data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BUSINESS RECOMMENDATIONS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46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2000"/>
            </a:pP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The analysis identified several customer segments with substantially higher observed churn, particularly month-to-month customers, senior customers, </a:t>
            </a:r>
            <a:r>
              <a:rPr lang="en-GB" sz="2800" dirty="0" err="1">
                <a:latin typeface="Times New Roman" pitchFamily="18" charset="0"/>
                <a:cs typeface="Times New Roman" pitchFamily="18" charset="0"/>
              </a:rPr>
              <a:t>fiber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-optic users and electronic-check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users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spcAft>
                <a:spcPts val="800"/>
              </a:spcAft>
              <a:defRPr sz="2000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Targeted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retention </a:t>
            </a: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strategies focused on these segments could help ABC Communications Ltd. reduce churn and protect revenue.</a:t>
            </a:r>
            <a:endParaRPr lang="en-GB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780928"/>
            <a:ext cx="8229600" cy="1143000"/>
          </a:xfrm>
        </p:spPr>
        <p:txBody>
          <a:bodyPr/>
          <a:lstStyle/>
          <a:p>
            <a:r>
              <a:rPr lang="en-GB" b="1" dirty="0" smtClean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0C125-4D61-4A0B-9A4D-7A2AB919936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8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201</TotalTime>
  <Words>445</Words>
  <Application>Microsoft Office PowerPoint</Application>
  <PresentationFormat>On-screen Show (4:3)</PresentationFormat>
  <Paragraphs>78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Waveform</vt:lpstr>
      <vt:lpstr>CUSTOMER CHURN ANALYSIS ABC COMMUNICATIONS LTD. </vt:lpstr>
      <vt:lpstr>BUSINESS PROBLEM</vt:lpstr>
      <vt:lpstr>BUSINESS OBJECTIVES</vt:lpstr>
      <vt:lpstr>DATASET OVERVIEW</vt:lpstr>
      <vt:lpstr>OVERALL CUSTOMER CHURN</vt:lpstr>
      <vt:lpstr>CHURN BY CUSTOMER SEGMENT</vt:lpstr>
      <vt:lpstr>CHURN BY CONTRACT TYPE</vt:lpstr>
      <vt:lpstr>CUSTOMER TENURE DISTRIBUTION</vt:lpstr>
      <vt:lpstr>TENURE CORRELATION ANALYSIS</vt:lpstr>
      <vt:lpstr>CHURN BY INTERNET SERVICE &amp; PAYMENT METHOD</vt:lpstr>
      <vt:lpstr>KEY BUSINESS INSIGHTS</vt:lpstr>
      <vt:lpstr>BUSINESS RISKS &amp; OPPORTUNITIES</vt:lpstr>
      <vt:lpstr>BUSINESS RECOMMENDATIONS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ABC COMMUNICATIONS LTD. </dc:title>
  <dc:creator>Bishir</dc:creator>
  <cp:lastModifiedBy>Bishir</cp:lastModifiedBy>
  <cp:revision>23</cp:revision>
  <dcterms:created xsi:type="dcterms:W3CDTF">2026-03-30T13:46:45Z</dcterms:created>
  <dcterms:modified xsi:type="dcterms:W3CDTF">2026-03-31T07:48:00Z</dcterms:modified>
</cp:coreProperties>
</file>